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연속 성공률</c:v>
                </c:pt>
              </c:strCache>
            </c:strRef>
          </c:tx>
          <c:dPt>
            <c:idx val="0"/>
            <c:spPr>
              <a:solidFill>
                <a:srgbClr val="ADB5BD"/>
              </a:solidFill>
            </c:spPr>
          </c:dPt>
          <c:dPt>
            <c:idx val="1"/>
            <c:spPr>
              <a:solidFill>
                <a:srgbClr val="8DB0E8"/>
              </a:solidFill>
            </c:spPr>
          </c:dPt>
          <c:dPt>
            <c:idx val="2"/>
            <c:spPr>
              <a:solidFill>
                <a:srgbClr val="4F86D9"/>
              </a:solidFill>
            </c:spPr>
          </c:dPt>
          <c:dPt>
            <c:idx val="3"/>
            <c:spPr>
              <a:solidFill>
                <a:srgbClr val="1C5FC8"/>
              </a:solidFill>
            </c:spPr>
          </c:dPt>
          <c:dPt>
            <c:idx val="4"/>
            <c:spPr>
              <a:solidFill>
                <a:srgbClr val="1421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F2933"/>
                        </a:solidFill>
                        <a:latin typeface="맑은 고딕"/>
                      </a:rPr>
                      <a:t>28%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F2933"/>
                        </a:solidFill>
                        <a:latin typeface="맑은 고딕"/>
                      </a:rPr>
                      <a:t>62%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F2933"/>
                        </a:solidFill>
                        <a:latin typeface="맑은 고딕"/>
                      </a:rPr>
                      <a:t>82%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C5FC8"/>
                        </a:solidFill>
                        <a:latin typeface="맑은 고딕"/>
                      </a:rPr>
                      <a:t>96%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4213D"/>
                        </a:solidFill>
                        <a:latin typeface="맑은 고딕"/>
                      </a:rPr>
                      <a:t>99.0%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초기</c:v>
                </c:pt>
                <c:pt idx="1">
                  <c:v>+ 여유
두고 잡기</c:v>
                </c:pt>
                <c:pt idx="2">
                  <c:v>+ 늘 같은
곳 잡기</c:v>
                </c:pt>
                <c:pt idx="3">
                  <c:v>+ 놓고
물러나기</c:v>
                </c:pt>
                <c:pt idx="4">
                  <c:v>규칙 3개
(200개 장면)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62</c:v>
                </c:pt>
                <c:pt idx="2">
                  <c:v>82</c:v>
                </c:pt>
                <c:pt idx="3">
                  <c:v>96</c:v>
                </c:pt>
                <c:pt idx="4">
                  <c:v>99.0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1F2933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시연 100회</c:v>
                </c:pt>
              </c:strCache>
            </c:strRef>
          </c:tx>
          <c:spPr>
            <a:solidFill>
              <a:srgbClr val="1C5FC8"/>
            </a:solidFill>
          </c:spPr>
          <c:dPt>
            <c:idx val="0"/>
            <c:spPr>
              <a:solidFill>
                <a:srgbClr val="1C5FC8"/>
              </a:solidFill>
            </c:spPr>
          </c:dPt>
          <c:dPt>
            <c:idx val="1"/>
            <c:spPr>
              <a:solidFill>
                <a:srgbClr val="1C5FC8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C5FC8"/>
                        </a:solidFill>
                        <a:latin typeface="맑은 고딕"/>
                      </a:rPr>
                      <a:t>62%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C5FC8"/>
                        </a:solidFill>
                        <a:latin typeface="맑은 고딕"/>
                      </a:rPr>
                      <a:t>96%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여유만
(일관성 X)</c:v>
                </c:pt>
                <c:pt idx="1">
                  <c:v>규칙
시연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200회·1,000회</c:v>
                </c:pt>
              </c:strCache>
            </c:strRef>
          </c:tx>
          <c:spPr>
            <a:solidFill>
              <a:srgbClr val="9AA5B1"/>
            </a:solidFill>
          </c:spPr>
          <c:dPt>
            <c:idx val="0"/>
            <c:spPr>
              <a:solidFill>
                <a:srgbClr val="9AA5B1"/>
              </a:solidFill>
            </c:spPr>
          </c:dPt>
          <c:dPt>
            <c:idx val="1"/>
            <c:spPr>
              <a:solidFill>
                <a:srgbClr val="9AA5B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F2933"/>
                        </a:solidFill>
                        <a:latin typeface="맑은 고딕"/>
                      </a:rPr>
                      <a:t>36%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1F2933"/>
                        </a:solidFill>
                        <a:latin typeface="맑은 고딕"/>
                      </a:rPr>
                      <a:t>94%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여유만
(일관성 X)</c:v>
                </c:pt>
                <c:pt idx="1">
                  <c:v>규칙
시연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94</c:v>
                </c:pt>
              </c:numCache>
            </c:numRef>
          </c:val>
        </c:ser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800"/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800">
          <a:solidFill>
            <a:srgbClr val="1F2933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chart" Target="../charts/chart1.xml"/><Relationship Id="rId10" Type="http://schemas.openxmlformats.org/officeDocument/2006/relationships/chart" Target="../charts/chart2.xml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32400000" cy="72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ference"/>
          <p:cNvSpPr txBox="1"/>
          <p:nvPr/>
        </p:nvSpPr>
        <p:spPr>
          <a:xfrm>
            <a:off x="1080000" y="504000"/>
            <a:ext cx="30240000" cy="50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FFC23D"/>
                </a:solidFill>
                <a:latin typeface="맑은 고딕"/>
                <a:ea typeface="맑은 고딕"/>
                <a:cs typeface="맑은 고딕"/>
              </a:rPr>
              <a:t>2026 대한전자공학회 추계학술대회 · 학부생 논문경진대회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80000" y="1152000"/>
            <a:ext cx="30240000" cy="2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 모방학습 기반 스마트 팩토리 순차 적재에서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 일관성의 영향 분석</a:t>
            </a:r>
          </a:p>
        </p:txBody>
      </p:sp>
      <p:sp>
        <p:nvSpPr>
          <p:cNvPr id="5" name="title en"/>
          <p:cNvSpPr txBox="1"/>
          <p:nvPr/>
        </p:nvSpPr>
        <p:spPr>
          <a:xfrm>
            <a:off x="1080000" y="3816000"/>
            <a:ext cx="30240000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C9D6EA"/>
                </a:solidFill>
                <a:latin typeface="맑은 고딕"/>
                <a:ea typeface="맑은 고딕"/>
                <a:cs typeface="맑은 고딕"/>
              </a:rPr>
              <a:t>Analyzing the Effects of Demonstration Consistency on ACT-Based Sequential Stacking for Smart Factories</a:t>
            </a:r>
          </a:p>
        </p:txBody>
      </p:sp>
      <p:sp>
        <p:nvSpPr>
          <p:cNvPr id="6" name="authors"/>
          <p:cNvSpPr txBox="1"/>
          <p:nvPr/>
        </p:nvSpPr>
        <p:spPr>
          <a:xfrm>
            <a:off x="1080000" y="4680000"/>
            <a:ext cx="30240000" cy="14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이지용, 고병철</a:t>
            </a:r>
            <a:r>
              <a:rPr sz="4000" b="0" i="0">
                <a:solidFill>
                  <a:srgbClr val="D6E0F0"/>
                </a:solidFill>
                <a:latin typeface="맑은 고딕"/>
                <a:ea typeface="맑은 고딕"/>
                <a:cs typeface="맑은 고딕"/>
              </a:rPr>
              <a:t>     계명대학교 컴퓨터공학전공</a:t>
            </a:r>
          </a:p>
        </p:txBody>
      </p:sp>
      <p:sp>
        <p:nvSpPr>
          <p:cNvPr id="7" name="badge 1"/>
          <p:cNvSpPr/>
          <p:nvPr/>
        </p:nvSpPr>
        <p:spPr>
          <a:xfrm>
            <a:off x="792000" y="7956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section 1"/>
          <p:cNvSpPr txBox="1"/>
          <p:nvPr/>
        </p:nvSpPr>
        <p:spPr>
          <a:xfrm>
            <a:off x="1800000" y="78840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연구 배경 및 목표</a:t>
            </a:r>
          </a:p>
        </p:txBody>
      </p:sp>
      <p:sp>
        <p:nvSpPr>
          <p:cNvPr id="9" name="background"/>
          <p:cNvSpPr txBox="1"/>
          <p:nvPr/>
        </p:nvSpPr>
        <p:spPr>
          <a:xfrm>
            <a:off x="792000" y="9000000"/>
            <a:ext cx="15048000" cy="18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24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중소 공정은 고가 산업용 로봇 도입이 어려움 → 저가 로봇팔과 모방학습(ACT</a:t>
            </a:r>
            <a:r>
              <a:rPr sz="24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[1]</a:t>
            </a:r>
            <a:r>
              <a:rPr sz="24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)으로 적은 시연에서 조작을 학습</a:t>
            </a:r>
          </a:p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24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순차 적재는 앞 단계가 놓은 적재함이 다음 단계의 출발점 → </a:t>
            </a:r>
            <a:r>
              <a:rPr sz="2400" b="1" i="0">
                <a:solidFill>
                  <a:srgbClr val="D9480F"/>
                </a:solidFill>
                <a:latin typeface="맑은 고딕"/>
                <a:ea typeface="맑은 고딕"/>
                <a:cs typeface="맑은 고딕"/>
              </a:rPr>
              <a:t>작은 오차와 서로 다른 시연 동작이 단계마다 누적</a:t>
            </a:r>
          </a:p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24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: 모델 구조·학습 설정은 그대로 두고 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시연의 일관성</a:t>
            </a:r>
            <a:r>
              <a:rPr sz="24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만으로 세 단계 연속 성공률을 높인다</a:t>
            </a:r>
          </a:p>
        </p:txBody>
      </p:sp>
      <p:sp>
        <p:nvSpPr>
          <p:cNvPr id="10" name="badge 2"/>
          <p:cNvSpPr/>
          <p:nvPr/>
        </p:nvSpPr>
        <p:spPr>
          <a:xfrm>
            <a:off x="792000" y="11268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section 2"/>
          <p:cNvSpPr txBox="1"/>
          <p:nvPr/>
        </p:nvSpPr>
        <p:spPr>
          <a:xfrm>
            <a:off x="1800000" y="111960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캡스톤 시스템 구성</a:t>
            </a:r>
          </a:p>
        </p:txBody>
      </p:sp>
      <p:sp>
        <p:nvSpPr>
          <p:cNvPr id="12" name="flow 1"/>
          <p:cNvSpPr/>
          <p:nvPr/>
        </p:nvSpPr>
        <p:spPr>
          <a:xfrm>
            <a:off x="792000" y="12384000"/>
            <a:ext cx="2520000" cy="1872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색 분류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컨베이어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파랑 큐브만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02000" y="13104000"/>
            <a:ext cx="432000" cy="432000"/>
          </a:xfrm>
          <a:prstGeom prst="rightArrow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2"/>
          <p:cNvSpPr/>
          <p:nvPr/>
        </p:nvSpPr>
        <p:spPr>
          <a:xfrm>
            <a:off x="3924000" y="12384000"/>
            <a:ext cx="2520000" cy="1872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저울 숫자 판독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YOLOv8n 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Jetson Orin Nano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34000" y="13104000"/>
            <a:ext cx="432000" cy="432000"/>
          </a:xfrm>
          <a:prstGeom prst="rightArrow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3"/>
          <p:cNvSpPr/>
          <p:nvPr/>
        </p:nvSpPr>
        <p:spPr>
          <a:xfrm>
            <a:off x="7056000" y="12384000"/>
            <a:ext cx="2520000" cy="1872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118 g 이상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TCP 트리거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66000" y="13104000"/>
            <a:ext cx="432000" cy="432000"/>
          </a:xfrm>
          <a:prstGeom prst="rightArrow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ow 4"/>
          <p:cNvSpPr/>
          <p:nvPr/>
        </p:nvSpPr>
        <p:spPr>
          <a:xfrm>
            <a:off x="10188000" y="12384000"/>
            <a:ext cx="2520000" cy="1872000"/>
          </a:xfrm>
          <a:prstGeom prst="roundRect">
            <a:avLst>
              <a:gd name="adj" fmla="val 12000"/>
            </a:avLst>
          </a:prstGeom>
          <a:solidFill>
            <a:srgbClr val="DCE7F8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SO-101 로봇팔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단계별 ACT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798000" y="13104000"/>
            <a:ext cx="432000" cy="432000"/>
          </a:xfrm>
          <a:prstGeom prst="rightArrow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ow 5"/>
          <p:cNvSpPr/>
          <p:nvPr/>
        </p:nvSpPr>
        <p:spPr>
          <a:xfrm>
            <a:off x="13320000" y="12384000"/>
            <a:ext cx="2520000" cy="1872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1층 → 옆 → 2층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순차 적재</a:t>
            </a:r>
          </a:p>
        </p:txBody>
      </p:sp>
      <p:sp>
        <p:nvSpPr>
          <p:cNvPr id="21" name="U-Turn Arrow 20"/>
          <p:cNvSpPr/>
          <p:nvPr/>
        </p:nvSpPr>
        <p:spPr>
          <a:xfrm rot="10800000">
            <a:off x="10476000" y="14328000"/>
            <a:ext cx="5076000" cy="504000"/>
          </a:xfrm>
          <a:prstGeom prst="uturnArrow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try note"/>
          <p:cNvSpPr txBox="1"/>
          <p:nvPr/>
        </p:nvSpPr>
        <p:spPr>
          <a:xfrm>
            <a:off x="792000" y="14400000"/>
            <a:ext cx="9396000" cy="43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8A5A00"/>
                </a:solidFill>
                <a:latin typeface="맑은 고딕"/>
                <a:ea typeface="맑은 고딕"/>
                <a:cs typeface="맑은 고딕"/>
              </a:rPr>
              <a:t>무게 확인 재시도: 저울에 60 g 이상 남으면 그 단계를 다시 실행 →</a:t>
            </a:r>
          </a:p>
        </p:txBody>
      </p:sp>
      <p:sp>
        <p:nvSpPr>
          <p:cNvPr id="23" name="stat 1"/>
          <p:cNvSpPr/>
          <p:nvPr/>
        </p:nvSpPr>
        <p:spPr>
          <a:xfrm>
            <a:off x="792000" y="15120000"/>
            <a:ext cx="4824000" cy="165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86.3%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숫자 탐지 mAP50</a:t>
            </a:r>
          </a:p>
        </p:txBody>
      </p:sp>
      <p:sp>
        <p:nvSpPr>
          <p:cNvPr id="24" name="stat 2"/>
          <p:cNvSpPr/>
          <p:nvPr/>
        </p:nvSpPr>
        <p:spPr>
          <a:xfrm>
            <a:off x="5904000" y="15120000"/>
            <a:ext cx="4824000" cy="165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91.7%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118 g 분류 정확도 (55/60)</a:t>
            </a:r>
          </a:p>
        </p:txBody>
      </p:sp>
      <p:sp>
        <p:nvSpPr>
          <p:cNvPr id="25" name="stat 3"/>
          <p:cNvSpPr/>
          <p:nvPr/>
        </p:nvSpPr>
        <p:spPr>
          <a:xfrm>
            <a:off x="11016000" y="15120000"/>
            <a:ext cx="4824000" cy="165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약 810 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인식 → 로봇 명령</a:t>
            </a:r>
          </a:p>
        </p:txBody>
      </p:sp>
      <p:sp>
        <p:nvSpPr>
          <p:cNvPr id="26" name="real note"/>
          <p:cNvSpPr txBox="1"/>
          <p:nvPr/>
        </p:nvSpPr>
        <p:spPr>
          <a:xfrm>
            <a:off x="792000" y="16848000"/>
            <a:ext cx="1504800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무게 인식은 실제 장치에서 측정 (조건별 20회, 총 60회)</a:t>
            </a:r>
          </a:p>
        </p:txBody>
      </p:sp>
      <p:sp>
        <p:nvSpPr>
          <p:cNvPr id="27" name="badge 3"/>
          <p:cNvSpPr/>
          <p:nvPr/>
        </p:nvSpPr>
        <p:spPr>
          <a:xfrm>
            <a:off x="792000" y="17748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section 3"/>
          <p:cNvSpPr txBox="1"/>
          <p:nvPr/>
        </p:nvSpPr>
        <p:spPr>
          <a:xfrm>
            <a:off x="1800000" y="176760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시뮬레이션으로 재현 (MuJoCo)</a:t>
            </a:r>
          </a:p>
        </p:txBody>
      </p:sp>
      <p:pic>
        <p:nvPicPr>
          <p:cNvPr id="29" name="sim hero" descr="p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8828000"/>
            <a:ext cx="10897200" cy="6129675"/>
          </a:xfrm>
          <a:prstGeom prst="rect">
            <a:avLst/>
          </a:prstGeom>
        </p:spPr>
      </p:pic>
      <p:pic>
        <p:nvPicPr>
          <p:cNvPr id="30" name="wrist cam" descr="basic_cam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000" y="18828000"/>
            <a:ext cx="3924000" cy="2943000"/>
          </a:xfrm>
          <a:prstGeom prst="rect">
            <a:avLst/>
          </a:prstGeom>
        </p:spPr>
      </p:pic>
      <p:pic>
        <p:nvPicPr>
          <p:cNvPr id="31" name="top cam" descr="basic_cam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6000" y="22014675"/>
            <a:ext cx="3924000" cy="29430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80000" y="24165675"/>
            <a:ext cx="2854080" cy="501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저울 (집는 곳)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8000" y="22860000"/>
            <a:ext cx="3139200" cy="501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팔레트 (쌓는 곳)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13200" y="18936000"/>
            <a:ext cx="1843200" cy="475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손목 카메라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13200" y="22122675"/>
            <a:ext cx="1843200" cy="475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상단 카메라</a:t>
            </a:r>
          </a:p>
        </p:txBody>
      </p:sp>
      <p:sp>
        <p:nvSpPr>
          <p:cNvPr id="36" name="sim notes"/>
          <p:cNvSpPr txBox="1"/>
          <p:nvPr/>
        </p:nvSpPr>
        <p:spPr>
          <a:xfrm>
            <a:off x="792000" y="25137675"/>
            <a:ext cx="15048000" cy="18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로봇팔이 고장 나 </a:t>
            </a: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캡스톤 시스템을 그대로 재현</a:t>
            </a: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: 공식 SO-101 모델, 같은 카메라 위치·30 Hz 제어, 적재함 64×64×52 mm·123 g</a:t>
            </a:r>
          </a:p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적재함 위치 ±20 mm·각도 ±20° 무작위, 단계마다 스크립트 시연 100회로 ACT 학습 (LeRobot</a:t>
            </a:r>
            <a:r>
              <a:rPr sz="22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[2]</a:t>
            </a: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7" name="badge 4"/>
          <p:cNvSpPr/>
          <p:nvPr/>
        </p:nvSpPr>
        <p:spPr>
          <a:xfrm>
            <a:off x="792000" y="27252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8" name="section 4"/>
          <p:cNvSpPr txBox="1"/>
          <p:nvPr/>
        </p:nvSpPr>
        <p:spPr>
          <a:xfrm>
            <a:off x="1800000" y="271800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제안 1. 시연 설계 규칙 3가지</a:t>
            </a:r>
          </a:p>
        </p:txBody>
      </p:sp>
      <p:pic>
        <p:nvPicPr>
          <p:cNvPr id="39" name="rule 1" descr="p_rul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013" y="28404000"/>
            <a:ext cx="3345974" cy="2736000"/>
          </a:xfrm>
          <a:prstGeom prst="rect">
            <a:avLst/>
          </a:prstGeom>
        </p:spPr>
      </p:pic>
      <p:sp>
        <p:nvSpPr>
          <p:cNvPr id="40" name="rule text 1"/>
          <p:cNvSpPr txBox="1"/>
          <p:nvPr/>
        </p:nvSpPr>
        <p:spPr>
          <a:xfrm>
            <a:off x="5328000" y="28332000"/>
            <a:ext cx="10512000" cy="288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3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① 여유 두고 잡기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벽에 바짝 붙여 내려가면 3 mm만 어긋나도 벽 위에 얹힘 → 벽 바깥 9 mm에서 내려감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연속 성공률 </a:t>
            </a:r>
            <a:r>
              <a:rPr sz="26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28% → 62%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000" y="31293000"/>
            <a:ext cx="15048000" cy="0"/>
          </a:xfrm>
          <a:prstGeom prst="line">
            <a:avLst/>
          </a:prstGeom>
          <a:ln w="190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rule 2" descr="p_rul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1888478"/>
            <a:ext cx="4248000" cy="1851043"/>
          </a:xfrm>
          <a:prstGeom prst="rect">
            <a:avLst/>
          </a:prstGeom>
        </p:spPr>
      </p:pic>
      <p:sp>
        <p:nvSpPr>
          <p:cNvPr id="43" name="rule text 2"/>
          <p:cNvSpPr txBox="1"/>
          <p:nvPr/>
        </p:nvSpPr>
        <p:spPr>
          <a:xfrm>
            <a:off x="5328000" y="31374000"/>
            <a:ext cx="10512000" cy="288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3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② 늘 같은 곳 잡기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가장 가까운 벽을 잡으면 +7°·+9°처럼 비슷한 장면에서 잡는 벽이 바뀜 → 항상 같은 벽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연속 성공률 </a:t>
            </a:r>
            <a:r>
              <a:rPr sz="26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62% → 82%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2000" y="34335000"/>
            <a:ext cx="15048000" cy="0"/>
          </a:xfrm>
          <a:prstGeom prst="line">
            <a:avLst/>
          </a:prstGeom>
          <a:ln w="190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rule 3" descr="p_rul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34552084"/>
            <a:ext cx="4248000" cy="2607831"/>
          </a:xfrm>
          <a:prstGeom prst="rect">
            <a:avLst/>
          </a:prstGeom>
        </p:spPr>
      </p:pic>
      <p:sp>
        <p:nvSpPr>
          <p:cNvPr id="46" name="rule text 3"/>
          <p:cNvSpPr txBox="1"/>
          <p:nvPr/>
        </p:nvSpPr>
        <p:spPr>
          <a:xfrm>
            <a:off x="5328000" y="34416000"/>
            <a:ext cx="10512000" cy="288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3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③ 놓고 물러나기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놓자마자 올라가면 집게가 적재함을 끌어 올려 기울임 → 5 mm 물러난 뒤 올라감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연속 성공률 </a:t>
            </a:r>
            <a:r>
              <a:rPr sz="26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82% → 96%</a:t>
            </a:r>
          </a:p>
        </p:txBody>
      </p:sp>
      <p:sp>
        <p:nvSpPr>
          <p:cNvPr id="47" name="badge 5"/>
          <p:cNvSpPr/>
          <p:nvPr/>
        </p:nvSpPr>
        <p:spPr>
          <a:xfrm>
            <a:off x="16560000" y="7956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8" name="section 5"/>
          <p:cNvSpPr txBox="1"/>
          <p:nvPr/>
        </p:nvSpPr>
        <p:spPr>
          <a:xfrm>
            <a:off x="17568000" y="78840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제안 2. 학습 전 시연 일관성 점검</a:t>
            </a:r>
          </a:p>
        </p:txBody>
      </p:sp>
      <p:sp>
        <p:nvSpPr>
          <p:cNvPr id="49" name="audit text"/>
          <p:cNvSpPr txBox="1"/>
          <p:nvPr/>
        </p:nvSpPr>
        <p:spPr>
          <a:xfrm>
            <a:off x="16560000" y="9000000"/>
            <a:ext cx="15048000" cy="15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그리퍼가 닫히는 순간의 손목 회전각을 시연마다 모아 작은 값부터 정렬하고, 이웃한 값 사이의 최대 간격 G를 잰다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G = max</a:t>
            </a:r>
            <a:r>
              <a:rPr sz="2800" b="0" i="0" baseline="-2500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1≤i&lt;N</a:t>
            </a:r>
            <a:r>
              <a:rPr sz="28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 (θ</a:t>
            </a:r>
            <a:r>
              <a:rPr sz="2800" b="0" i="0" baseline="-2500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i+1</a:t>
            </a:r>
            <a:r>
              <a:rPr sz="28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 − θ</a:t>
            </a:r>
            <a:r>
              <a:rPr sz="2800" b="0" i="0" baseline="-2500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8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2100" b="0" i="0">
                <a:solidFill>
                  <a:srgbClr val="D9480F"/>
                </a:solidFill>
                <a:latin typeface="맑은 고딕"/>
                <a:ea typeface="맑은 고딕"/>
                <a:cs typeface="맑은 고딕"/>
              </a:rPr>
              <a:t>     잡는 방식이 둘로 갈리면 큰 빈 구간 → 학습 없이 시연만으로 점검</a:t>
            </a:r>
          </a:p>
        </p:txBody>
      </p:sp>
      <p:pic>
        <p:nvPicPr>
          <p:cNvPr id="50" name="audit figure" descr="aud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60000" y="10368000"/>
            <a:ext cx="15048000" cy="8087774"/>
          </a:xfrm>
          <a:prstGeom prst="rect">
            <a:avLst/>
          </a:prstGeom>
        </p:spPr>
      </p:pic>
      <p:sp>
        <p:nvSpPr>
          <p:cNvPr id="51" name="badge 6"/>
          <p:cNvSpPr/>
          <p:nvPr/>
        </p:nvSpPr>
        <p:spPr>
          <a:xfrm>
            <a:off x="16560000" y="189963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2" name="section 6"/>
          <p:cNvSpPr txBox="1"/>
          <p:nvPr/>
        </p:nvSpPr>
        <p:spPr>
          <a:xfrm>
            <a:off x="17568000" y="189243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실험 결과 (시뮬레이션)</a:t>
            </a:r>
          </a:p>
        </p:txBody>
      </p:sp>
      <p:sp>
        <p:nvSpPr>
          <p:cNvPr id="53" name="callout 1"/>
          <p:cNvSpPr/>
          <p:nvPr/>
        </p:nvSpPr>
        <p:spPr>
          <a:xfrm>
            <a:off x="16560000" y="20040300"/>
            <a:ext cx="7380000" cy="1656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28% → 99.0%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세 단계 연속 성공률 (시연 100회)</a:t>
            </a:r>
          </a:p>
        </p:txBody>
      </p:sp>
      <p:sp>
        <p:nvSpPr>
          <p:cNvPr id="54" name="callout 2"/>
          <p:cNvSpPr/>
          <p:nvPr/>
        </p:nvSpPr>
        <p:spPr>
          <a:xfrm>
            <a:off x="24228000" y="20040300"/>
            <a:ext cx="7380000" cy="1656000"/>
          </a:xfrm>
          <a:prstGeom prst="roundRect">
            <a:avLst>
              <a:gd name="adj" fmla="val 12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200/200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무게 확인 재시도까지 적용</a:t>
            </a:r>
          </a:p>
        </p:txBody>
      </p:sp>
      <p:sp>
        <p:nvSpPr>
          <p:cNvPr id="55" name="chart a title"/>
          <p:cNvSpPr txBox="1"/>
          <p:nvPr/>
        </p:nvSpPr>
        <p:spPr>
          <a:xfrm>
            <a:off x="16560000" y="21912300"/>
            <a:ext cx="943200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규칙을 하나씩 추가 (단계당 시연 100회)</a:t>
            </a:r>
          </a:p>
        </p:txBody>
      </p:sp>
      <p:graphicFrame>
        <p:nvGraphicFramePr>
          <p:cNvPr id="56" name="chart rules"/>
          <p:cNvGraphicFramePr>
            <a:graphicFrameLocks noGrp="1"/>
          </p:cNvGraphicFramePr>
          <p:nvPr/>
        </p:nvGraphicFramePr>
        <p:xfrm>
          <a:off x="16488000" y="22236300"/>
          <a:ext cx="9576000" cy="46080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7" name="chart b title"/>
          <p:cNvSpPr txBox="1"/>
          <p:nvPr/>
        </p:nvSpPr>
        <p:spPr>
          <a:xfrm>
            <a:off x="26280000" y="21912300"/>
            <a:ext cx="5328000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시연 수를 늘리면?</a:t>
            </a:r>
          </a:p>
        </p:txBody>
      </p:sp>
      <p:graphicFrame>
        <p:nvGraphicFramePr>
          <p:cNvPr id="58" name="chart data"/>
          <p:cNvGraphicFramePr>
            <a:graphicFrameLocks noGrp="1"/>
          </p:cNvGraphicFramePr>
          <p:nvPr/>
        </p:nvGraphicFramePr>
        <p:xfrm>
          <a:off x="26136000" y="22236300"/>
          <a:ext cx="5544000" cy="46080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9" name="result note"/>
          <p:cNvSpPr txBox="1"/>
          <p:nvPr/>
        </p:nvSpPr>
        <p:spPr>
          <a:xfrm>
            <a:off x="16560000" y="26952300"/>
            <a:ext cx="15048000" cy="7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시연을 늘려도 일관성이 없으면 오히려 하락 (200회 36%) → </a:t>
            </a:r>
            <a:r>
              <a:rPr sz="2200" b="1" i="0">
                <a:solidFill>
                  <a:srgbClr val="D9480F"/>
                </a:solidFill>
                <a:latin typeface="맑은 고딕"/>
                <a:ea typeface="맑은 고딕"/>
                <a:cs typeface="맑은 고딕"/>
              </a:rPr>
              <a:t>양보다 일관성</a:t>
            </a:r>
          </a:p>
        </p:txBody>
      </p:sp>
      <p:sp>
        <p:nvSpPr>
          <p:cNvPr id="60" name="badge 7"/>
          <p:cNvSpPr/>
          <p:nvPr/>
        </p:nvSpPr>
        <p:spPr>
          <a:xfrm>
            <a:off x="16560000" y="277803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1" name="section 7"/>
          <p:cNvSpPr txBox="1"/>
          <p:nvPr/>
        </p:nvSpPr>
        <p:spPr>
          <a:xfrm>
            <a:off x="17568000" y="27708300"/>
            <a:ext cx="1404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다양한 환경으로 확장</a:t>
            </a:r>
          </a:p>
        </p:txBody>
      </p:sp>
      <p:pic>
        <p:nvPicPr>
          <p:cNvPr id="62" name="tile 잡동사니 책상" descr="p_clutt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60000" y="28860300"/>
            <a:ext cx="4872000" cy="2909280"/>
          </a:xfrm>
          <a:prstGeom prst="rect">
            <a:avLst/>
          </a:prstGeom>
        </p:spPr>
      </p:pic>
      <p:sp>
        <p:nvSpPr>
          <p:cNvPr id="63" name="tile label 1"/>
          <p:cNvSpPr txBox="1"/>
          <p:nvPr/>
        </p:nvSpPr>
        <p:spPr>
          <a:xfrm>
            <a:off x="16560000" y="3180558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잡동사니 책상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92%</a:t>
            </a:r>
          </a:p>
        </p:txBody>
      </p:sp>
      <p:pic>
        <p:nvPicPr>
          <p:cNvPr id="64" name="tile 공장형 장면" descr="p_facto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648000" y="28860300"/>
            <a:ext cx="4872000" cy="2909280"/>
          </a:xfrm>
          <a:prstGeom prst="rect">
            <a:avLst/>
          </a:prstGeom>
        </p:spPr>
      </p:pic>
      <p:sp>
        <p:nvSpPr>
          <p:cNvPr id="65" name="tile label 2"/>
          <p:cNvSpPr txBox="1"/>
          <p:nvPr/>
        </p:nvSpPr>
        <p:spPr>
          <a:xfrm>
            <a:off x="21648000" y="3180558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공장형 장면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90%</a:t>
            </a:r>
          </a:p>
        </p:txBody>
      </p:sp>
      <p:pic>
        <p:nvPicPr>
          <p:cNvPr id="66" name="tile 조명·책상 변화" descr="p_look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36000" y="28860300"/>
            <a:ext cx="4872000" cy="2909280"/>
          </a:xfrm>
          <a:prstGeom prst="rect">
            <a:avLst/>
          </a:prstGeom>
        </p:spPr>
      </p:pic>
      <p:sp>
        <p:nvSpPr>
          <p:cNvPr id="67" name="tile label 3"/>
          <p:cNvSpPr txBox="1"/>
          <p:nvPr/>
        </p:nvSpPr>
        <p:spPr>
          <a:xfrm>
            <a:off x="26736000" y="3180558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조명·책상 변화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98%*</a:t>
            </a:r>
          </a:p>
        </p:txBody>
      </p:sp>
      <p:pic>
        <p:nvPicPr>
          <p:cNvPr id="68" name="tile 손잡이 컵" descr="p_cu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60000" y="32525580"/>
            <a:ext cx="4872000" cy="2909280"/>
          </a:xfrm>
          <a:prstGeom prst="rect">
            <a:avLst/>
          </a:prstGeom>
        </p:spPr>
      </p:pic>
      <p:sp>
        <p:nvSpPr>
          <p:cNvPr id="69" name="tile label 4"/>
          <p:cNvSpPr txBox="1"/>
          <p:nvPr/>
        </p:nvSpPr>
        <p:spPr>
          <a:xfrm>
            <a:off x="16560000" y="3547086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손잡이 컵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88%</a:t>
            </a:r>
          </a:p>
        </p:txBody>
      </p:sp>
      <p:pic>
        <p:nvPicPr>
          <p:cNvPr id="70" name="tile 직사각형 상자" descr="p_box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648000" y="32525580"/>
            <a:ext cx="4872000" cy="2909280"/>
          </a:xfrm>
          <a:prstGeom prst="rect">
            <a:avLst/>
          </a:prstGeom>
        </p:spPr>
      </p:pic>
      <p:sp>
        <p:nvSpPr>
          <p:cNvPr id="71" name="tile label 5"/>
          <p:cNvSpPr txBox="1"/>
          <p:nvPr/>
        </p:nvSpPr>
        <p:spPr>
          <a:xfrm>
            <a:off x="21648000" y="3547086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직사각형 상자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100%</a:t>
            </a:r>
          </a:p>
        </p:txBody>
      </p:sp>
      <p:pic>
        <p:nvPicPr>
          <p:cNvPr id="72" name="tile 8칸 팔레트" descr="p_palle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36000" y="32525580"/>
            <a:ext cx="4872000" cy="2909280"/>
          </a:xfrm>
          <a:prstGeom prst="rect">
            <a:avLst/>
          </a:prstGeom>
        </p:spPr>
      </p:pic>
      <p:sp>
        <p:nvSpPr>
          <p:cNvPr id="73" name="tile label 6"/>
          <p:cNvSpPr txBox="1"/>
          <p:nvPr/>
        </p:nvSpPr>
        <p:spPr>
          <a:xfrm>
            <a:off x="26736000" y="35470860"/>
            <a:ext cx="4872000" cy="5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8칸 팔레트</a:t>
            </a:r>
            <a:r>
              <a:rPr sz="24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  95%</a:t>
            </a:r>
          </a:p>
        </p:txBody>
      </p:sp>
      <p:sp>
        <p:nvSpPr>
          <p:cNvPr id="74" name="tile note"/>
          <p:cNvSpPr txBox="1"/>
          <p:nvPr/>
        </p:nvSpPr>
        <p:spPr>
          <a:xfrm>
            <a:off x="16560000" y="36082860"/>
            <a:ext cx="15048000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세 단계 연속 성공률 (팔레트: 8칸을 모두 쌓은 비율 38/40). *15개 조건의 단계별 평균. 각 환경의 시연을 더해 학습</a:t>
            </a:r>
          </a:p>
        </p:txBody>
      </p:sp>
      <p:sp>
        <p:nvSpPr>
          <p:cNvPr id="75" name="conclusion box"/>
          <p:cNvSpPr/>
          <p:nvPr/>
        </p:nvSpPr>
        <p:spPr>
          <a:xfrm>
            <a:off x="792000" y="37656000"/>
            <a:ext cx="30816000" cy="273600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adge 8"/>
          <p:cNvSpPr/>
          <p:nvPr/>
        </p:nvSpPr>
        <p:spPr>
          <a:xfrm>
            <a:off x="1008000" y="38628000"/>
            <a:ext cx="792000" cy="79200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7" name="section 8"/>
          <p:cNvSpPr txBox="1"/>
          <p:nvPr/>
        </p:nvSpPr>
        <p:spPr>
          <a:xfrm>
            <a:off x="2016000" y="38556000"/>
            <a:ext cx="979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결론 및 향후 연구</a:t>
            </a:r>
          </a:p>
        </p:txBody>
      </p:sp>
      <p:sp>
        <p:nvSpPr>
          <p:cNvPr id="78" name="conclusion"/>
          <p:cNvSpPr txBox="1"/>
          <p:nvPr/>
        </p:nvSpPr>
        <p:spPr>
          <a:xfrm>
            <a:off x="11592000" y="37872000"/>
            <a:ext cx="19800000" cy="237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모델은 그대로 두고 시연 규칙만 바꿔 세 단계 연속 성공률 </a:t>
            </a:r>
            <a:r>
              <a:rPr sz="2200" b="1" i="0">
                <a:solidFill>
                  <a:srgbClr val="1C5FC8"/>
                </a:solidFill>
                <a:latin typeface="맑은 고딕"/>
                <a:ea typeface="맑은 고딕"/>
                <a:cs typeface="맑은 고딕"/>
              </a:rPr>
              <a:t>28% → 99.0%</a:t>
            </a: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, 무게 확인 재시도로 </a:t>
            </a:r>
            <a:r>
              <a:rPr sz="22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200/200</a:t>
            </a:r>
          </a:p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학습 전 손목 각도 간격 G로 상충하는 시연을 찾음 → </a:t>
            </a:r>
            <a:r>
              <a:rPr sz="2200" b="1" i="0">
                <a:solidFill>
                  <a:srgbClr val="D9480F"/>
                </a:solidFill>
                <a:latin typeface="맑은 고딕"/>
                <a:ea typeface="맑은 고딕"/>
                <a:cs typeface="맑은 고딕"/>
              </a:rPr>
              <a:t>시연은 양보다 일관성</a:t>
            </a:r>
          </a:p>
          <a:p>
            <a:pPr marL="234000" indent="-23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200" b="0" i="0">
                <a:solidFill>
                  <a:srgbClr val="1F2933"/>
                </a:solidFill>
                <a:latin typeface="맑은 고딕"/>
                <a:ea typeface="맑은 고딕"/>
                <a:cs typeface="맑은 고딕"/>
              </a:rPr>
              <a:t>한계: 로봇 조작은 시뮬레이션·스크립트 시연 결과 → 실제 로봇과 사람 원격조작 시연으로 검증 예정</a:t>
            </a:r>
          </a:p>
        </p:txBody>
      </p:sp>
      <p:sp>
        <p:nvSpPr>
          <p:cNvPr id="79" name="references"/>
          <p:cNvSpPr txBox="1"/>
          <p:nvPr/>
        </p:nvSpPr>
        <p:spPr>
          <a:xfrm>
            <a:off x="792000" y="40536000"/>
            <a:ext cx="19440000" cy="230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1" i="0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참고문헌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[1] T. Z. Zhao et al., “Learning Fine-Grained Bimanual Manipulation with Low-Cost Hardware,” RSS, 2023.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[2] R. Cadene et al., “LeRobot,” 2024, github.com/huggingface/lerobot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[3] S. Belkhale, Y. Cui, D. Sadigh, “Data Quality in Imitation Learning,” NeurIPS, 2023.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[4] E. Todorov, T. Erez, Y. Tassa, “MuJoCo: A Physics Engine for Model-Based Control,” IROS, 2012.</a:t>
            </a:r>
          </a:p>
        </p:txBody>
      </p:sp>
      <p:sp>
        <p:nvSpPr>
          <p:cNvPr id="80" name="acknowledgement"/>
          <p:cNvSpPr txBox="1"/>
          <p:nvPr/>
        </p:nvSpPr>
        <p:spPr>
          <a:xfrm>
            <a:off x="20664000" y="40536000"/>
            <a:ext cx="10944000" cy="23040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52606D"/>
                </a:solidFill>
                <a:latin typeface="맑은 고딕"/>
                <a:ea typeface="맑은 고딕"/>
                <a:cs typeface="맑은 고딕"/>
              </a:rPr>
              <a:t>본 과제(결과물)는 2026년도 교육부 및 대구광역시의 재원으로 RISE센터의 지원을 받아 수행된 지역혁신중심 대학지원체계(RISE)의 결과입니다.(과제관리번호: 2026-RISE-03-002)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 모방학습 기반 스마트 팩토리 순차 적재에서 시연 일관성의 영향 분석 (포스터)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